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82"/>
  </p:normalViewPr>
  <p:slideViewPr>
    <p:cSldViewPr snapToGrid="0" snapToObjects="1">
      <p:cViewPr>
        <p:scale>
          <a:sx n="99" d="100"/>
          <a:sy n="99" d="100"/>
        </p:scale>
        <p:origin x="32" y="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59CDD7-4F33-E049-8C1F-AF25FEA1A3DF}" type="datetimeFigureOut">
              <a:rPr lang="en-US" smtClean="0"/>
              <a:t>8/29/26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FC92A8-95F0-2B4C-9452-8739C3B29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18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C92A8-95F0-2B4C-9452-8739C3B292B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9438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D4A537"/>
                </a:solidFill>
                <a:latin typeface="Georgia"/>
              </a:defRPr>
            </a:pPr>
            <a:r>
              <a:rPr dirty="0" err="1"/>
              <a:t>LexSetu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097280" y="2743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AI-Powered Legal Intelligence &amp; Drafting Platform for India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383280"/>
            <a:ext cx="3657600" cy="381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37490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Grounded in 1,840+ real Indian legal sources  •  Built for lawyers, law students &amp; litigants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Confidential  |  August 2026</a:t>
            </a:r>
          </a:p>
        </p:txBody>
      </p:sp>
      <p:sp>
        <p:nvSpPr>
          <p:cNvPr id="10" name="Oval 9"/>
          <p:cNvSpPr/>
          <p:nvPr/>
        </p:nvSpPr>
        <p:spPr>
          <a:xfrm>
            <a:off x="9601200" y="1371600"/>
            <a:ext cx="1828800" cy="1828800"/>
          </a:xfrm>
          <a:prstGeom prst="ellipse">
            <a:avLst/>
          </a:prstGeom>
          <a:solidFill>
            <a:srgbClr val="15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058400" y="1828800"/>
            <a:ext cx="1097280" cy="1097280"/>
          </a:xfrm>
          <a:prstGeom prst="ellipse">
            <a:avLst/>
          </a:prstGeom>
          <a:solidFill>
            <a:srgbClr val="1A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4A537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Why General-Purpose AI Is Dangerous for Legal 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2743200" cy="3175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560320" cy="3474720"/>
          </a:xfrm>
          <a:prstGeom prst="roundRect">
            <a:avLst/>
          </a:prstGeom>
          <a:solidFill>
            <a:srgbClr val="1A0A0A"/>
          </a:solidFill>
          <a:ln w="19050">
            <a:solidFill>
              <a:srgbClr val="E8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84D4D"/>
                </a:solidFill>
                <a:latin typeface="Segoe UI Emoji"/>
              </a:defRPr>
            </a:pPr>
            <a:r>
              <a:t>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84D4D"/>
                </a:solidFill>
                <a:latin typeface="Calibri"/>
              </a:defRPr>
            </a:pPr>
            <a:r>
              <a:t>Confidentiality Breach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43200"/>
            <a:ext cx="2103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•  Lawyers upload sensitive case files, contracts, and privileged documents to ChatGPT and Claude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•  No control over how data is stored, trained on, or shared</a:t>
            </a:r>
          </a:p>
          <a:p>
            <a:pPr algn="l">
              <a:lnSpc>
                <a:spcPct val="125000"/>
              </a:lnSpc>
              <a:spcAft>
                <a:spcPts val="400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•  Violates Bar Council of India professional ethics rules on client confidentiality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828800"/>
            <a:ext cx="2560320" cy="3474720"/>
          </a:xfrm>
          <a:prstGeom prst="roundRect">
            <a:avLst/>
          </a:prstGeom>
          <a:solidFill>
            <a:srgbClr val="1A0A0A"/>
          </a:solidFill>
          <a:ln w="19050">
            <a:solidFill>
              <a:srgbClr val="E8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49040" y="2011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84D4D"/>
                </a:solidFill>
                <a:latin typeface="Segoe UI Emoji"/>
              </a:defRPr>
            </a:pPr>
            <a:r>
              <a:t>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23774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84D4D"/>
                </a:solidFill>
                <a:latin typeface="Calibri"/>
              </a:defRPr>
            </a:pPr>
            <a:r>
              <a:t>Fabricated Citations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2743200"/>
            <a:ext cx="2103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•  AI 'hallucinates' case laws, statute sections, and legal precedents that do not exist</a:t>
            </a:r>
          </a:p>
          <a:p>
            <a:pPr algn="l">
              <a:lnSpc>
                <a:spcPct val="125000"/>
              </a:lnSpc>
              <a:spcAft>
                <a:spcPts val="400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•  In 2023, a US attorney was sanctioned for citing 6 fictitious cases generated by ChatGPT</a:t>
            </a:r>
          </a:p>
          <a:p>
            <a:pPr algn="l">
              <a:lnSpc>
                <a:spcPct val="125000"/>
              </a:lnSpc>
              <a:spcAft>
                <a:spcPts val="400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•  Indian courts have begun flagging AI-generated briefs with non-existent citations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867535"/>
            <a:ext cx="2560320" cy="3474720"/>
          </a:xfrm>
          <a:prstGeom prst="roundRect">
            <a:avLst/>
          </a:prstGeom>
          <a:solidFill>
            <a:srgbClr val="1A0A0A"/>
          </a:solidFill>
          <a:ln w="19050">
            <a:solidFill>
              <a:srgbClr val="E8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2011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84D4D"/>
                </a:solidFill>
                <a:latin typeface="Segoe UI Emoji"/>
              </a:defRPr>
            </a:pPr>
            <a:r>
              <a:rPr dirty="0"/>
              <a:t>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3660" y="2390187"/>
            <a:ext cx="2446020" cy="35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84D4D"/>
                </a:solidFill>
                <a:latin typeface="Calibri"/>
              </a:defRPr>
            </a:pPr>
            <a:r>
              <a:rPr dirty="0"/>
              <a:t>Outdated Legal References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743200"/>
            <a:ext cx="2103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rPr dirty="0"/>
              <a:t>•  CrPC provisions cited by AI were replaced by BNSS (Bharatiya Nagarik Suraksha Sanhita) on 1 July 2024</a:t>
            </a:r>
          </a:p>
          <a:p>
            <a:pPr algn="l">
              <a:lnSpc>
                <a:spcPct val="125000"/>
              </a:lnSpc>
              <a:spcAft>
                <a:spcPts val="400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rPr dirty="0"/>
              <a:t>•  IPC replaced by BNS (Bharatiya Nyaya Sanhita) — AI models still reference repealed sections</a:t>
            </a:r>
          </a:p>
          <a:p>
            <a:pPr algn="l">
              <a:lnSpc>
                <a:spcPct val="125000"/>
              </a:lnSpc>
              <a:spcAft>
                <a:spcPts val="400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rPr dirty="0"/>
              <a:t>•  Indian Evidence Act replaced by BSA (Bharatiya </a:t>
            </a:r>
            <a:r>
              <a:rPr dirty="0" err="1"/>
              <a:t>Sakshya</a:t>
            </a:r>
            <a:r>
              <a:rPr dirty="0"/>
              <a:t> </a:t>
            </a:r>
            <a:r>
              <a:rPr dirty="0" err="1"/>
              <a:t>Adhiniyam</a:t>
            </a:r>
            <a:r>
              <a:rPr dirty="0"/>
              <a:t>) — not reflected in AI outputs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828800"/>
            <a:ext cx="2560320" cy="3474720"/>
          </a:xfrm>
          <a:prstGeom prst="roundRect">
            <a:avLst/>
          </a:prstGeom>
          <a:solidFill>
            <a:srgbClr val="1A0A0A"/>
          </a:solidFill>
          <a:ln w="19050">
            <a:solidFill>
              <a:srgbClr val="E8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0" y="19283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84D4D"/>
                </a:solidFill>
                <a:latin typeface="Segoe UI Emoji"/>
              </a:defRPr>
            </a:pPr>
            <a:r>
              <a:rPr dirty="0"/>
              <a:t>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377440"/>
            <a:ext cx="2624328" cy="35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84D4D"/>
                </a:solidFill>
                <a:latin typeface="Calibri"/>
              </a:defRPr>
            </a:pPr>
            <a:r>
              <a:rPr dirty="0"/>
              <a:t>Missing Legal Requirements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743200"/>
            <a:ext cx="2103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•  AI drafts often omit mandatory clauses required under Indian statutes</a:t>
            </a:r>
          </a:p>
          <a:p>
            <a:pPr algn="l">
              <a:lnSpc>
                <a:spcPct val="125000"/>
              </a:lnSpc>
              <a:spcAft>
                <a:spcPts val="400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•  No verification against SEBI, RBI, MCA, or sector-specific regulations</a:t>
            </a:r>
          </a:p>
          <a:p>
            <a:pPr algn="l">
              <a:lnSpc>
                <a:spcPct val="125000"/>
              </a:lnSpc>
              <a:spcAft>
                <a:spcPts val="400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•  Stamp duty, registration requirements, and jurisdictional clauses frequently absent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5760720"/>
            <a:ext cx="12191695" cy="64008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58064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D4A537"/>
                </a:solidFill>
                <a:latin typeface="Calibri"/>
              </a:defRPr>
            </a:pPr>
            <a:r>
              <a:t>78%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583387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of Indian lawyers use AI tools without data safeguards*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8064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D4A537"/>
                </a:solidFill>
                <a:latin typeface="Calibri"/>
              </a:defRPr>
            </a:pPr>
            <a:r>
              <a:t>45%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583387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of AI-generated legal drafts contain at least one error*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583387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Indian criminal statutes replaced in July 2024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rPr dirty="0"/>
              <a:t>*Estimated based on industry reports and legal technology surveys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4A537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LexSetu: A Closed-Loop Legal AI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2743200" cy="3175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CCCCC"/>
                </a:solidFill>
                <a:latin typeface="Calibri"/>
              </a:defRPr>
            </a:pPr>
            <a:r>
              <a:t>Instead of freely inventing legal content, LexSetu grounds every output in retrieved legal sources and marks</a:t>
            </a:r>
            <a:br/>
            <a:r>
              <a:t>information it cannot verify as [Not Provided] rather than guessing.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2377440" cy="219456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54480" y="288036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54480" y="2926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B82F6"/>
                </a:solidFill>
                <a:latin typeface="Calibri"/>
              </a:defRPr>
            </a:pPr>
            <a:r>
              <a:t>GENERATE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8E8E8"/>
                </a:solidFill>
                <a:latin typeface="Calibri"/>
              </a:defRPr>
            </a:pPr>
            <a:r>
              <a:t>AI drafts the legal</a:t>
            </a:r>
            <a:br/>
            <a:r>
              <a:t>document based on</a:t>
            </a:r>
            <a:br/>
            <a:r>
              <a:t>user requirements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35661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D4A53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2743200"/>
            <a:ext cx="2377440" cy="219456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D4A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343400" y="2880360"/>
            <a:ext cx="548640" cy="548640"/>
          </a:xfrm>
          <a:prstGeom prst="ellipse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43400" y="2926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520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4A537"/>
                </a:solidFill>
                <a:latin typeface="Calibri"/>
              </a:defRPr>
            </a:pPr>
            <a:r>
              <a:t>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39319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8E8E8"/>
                </a:solidFill>
                <a:latin typeface="Calibri"/>
              </a:defRPr>
            </a:pPr>
            <a:r>
              <a:t>Draft is reviewed against</a:t>
            </a:r>
            <a:br/>
            <a:r>
              <a:t>1,840+ real Indian legal</a:t>
            </a:r>
            <a:br/>
            <a:r>
              <a:t>source documents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5661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D4A53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2743200"/>
            <a:ext cx="2377440" cy="219456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4E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132320" y="2880360"/>
            <a:ext cx="548640" cy="548640"/>
          </a:xfrm>
          <a:prstGeom prst="ellipse">
            <a:avLst/>
          </a:prstGeom>
          <a:solidFill>
            <a:srgbClr val="4EC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32320" y="2926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520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4EC98B"/>
                </a:solidFill>
                <a:latin typeface="Calibri"/>
              </a:defRPr>
            </a:pPr>
            <a:r>
              <a:t>CORRECT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9319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8E8E8"/>
                </a:solidFill>
                <a:latin typeface="Calibri"/>
              </a:defRPr>
            </a:pPr>
            <a:r>
              <a:t>Detected issues are</a:t>
            </a:r>
            <a:br/>
            <a:r>
              <a:t>automatically corrected</a:t>
            </a:r>
            <a:br/>
            <a:r>
              <a:t>with source references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35661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D4A53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8280" y="2743200"/>
            <a:ext cx="2377440" cy="219456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921240" y="2880360"/>
            <a:ext cx="548640" cy="548640"/>
          </a:xfrm>
          <a:prstGeom prst="ellipse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921240" y="2926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3520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BC9C"/>
                </a:solidFill>
                <a:latin typeface="Calibri"/>
              </a:defRPr>
            </a:pPr>
            <a:r>
              <a:t>VERIFY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39319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8E8E8"/>
                </a:solidFill>
                <a:latin typeface="Calibri"/>
              </a:defRPr>
            </a:pPr>
            <a:r>
              <a:t>Corrections are verified</a:t>
            </a:r>
            <a:br/>
            <a:r>
              <a:t>before presenting the</a:t>
            </a:r>
            <a:br/>
            <a:r>
              <a:t>final output to the user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5303520"/>
            <a:ext cx="10488168" cy="118872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97280" y="5394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D4A537"/>
                </a:solidFill>
                <a:latin typeface="Calibri"/>
              </a:defRPr>
            </a:pPr>
            <a:r>
              <a:t>KEY DIFFERENTIATOR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57150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8E8E8"/>
                </a:solidFill>
                <a:latin typeface="Calibri"/>
              </a:defRPr>
            </a:pPr>
            <a:r>
              <a:rPr dirty="0"/>
              <a:t>Every legal output is grounded in real sources, transparent about uncertainty, and capable of being checked and corrected before it reaches the courtroom or a client.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4A537"/>
                </a:solidFill>
                <a:latin typeface="Calibri"/>
              </a:defRPr>
            </a:pPr>
            <a:r>
              <a:t>DATA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1,840+ Verified Indian Legal Source Documents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2743200" cy="3175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CCCCC"/>
                </a:solidFill>
                <a:latin typeface="Calibri"/>
              </a:defRPr>
            </a:pPr>
            <a:r>
              <a:t>Our knowledge base is built from authentic, publicly available Indian legal sources — not scraped web content.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2560320" cy="365760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468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3B82F6"/>
                </a:solidFill>
                <a:latin typeface="Segoe UI Emoji"/>
              </a:defRPr>
            </a:pPr>
            <a:r>
              <a:t>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346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B82F6"/>
                </a:solidFill>
                <a:latin typeface="Calibri"/>
              </a:defRPr>
            </a:pPr>
            <a:r>
              <a:t>Statutes &amp; Acts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00400"/>
            <a:ext cx="2103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  <a:defRPr sz="1050" b="0">
                <a:solidFill>
                  <a:srgbClr val="E8E8E8"/>
                </a:solidFill>
                <a:latin typeface="Calibri"/>
              </a:defRPr>
            </a:pPr>
            <a:r>
              <a:t>•  Bharatiya Nyaya Sanhita (BNS), 2023</a:t>
            </a:r>
          </a:p>
          <a:p>
            <a:pPr algn="l">
              <a:lnSpc>
                <a:spcPct val="125000"/>
              </a:lnSpc>
              <a:spcAft>
                <a:spcPts val="400"/>
              </a:spcAft>
              <a:defRPr sz="1050" b="0">
                <a:solidFill>
                  <a:srgbClr val="E8E8E8"/>
                </a:solidFill>
                <a:latin typeface="Calibri"/>
              </a:defRPr>
            </a:pPr>
            <a:r>
              <a:t>•  Bharatiya Nagarik Suraksha Sanhita (BNSS), 2023</a:t>
            </a:r>
          </a:p>
          <a:p>
            <a:pPr algn="l">
              <a:lnSpc>
                <a:spcPct val="125000"/>
              </a:lnSpc>
              <a:spcAft>
                <a:spcPts val="400"/>
              </a:spcAft>
              <a:defRPr sz="1050" b="0">
                <a:solidFill>
                  <a:srgbClr val="E8E8E8"/>
                </a:solidFill>
                <a:latin typeface="Calibri"/>
              </a:defRPr>
            </a:pPr>
            <a:r>
              <a:t>•  Bharatiya Sakshya Adhiniyam (BSA), 2023</a:t>
            </a:r>
          </a:p>
          <a:p>
            <a:pPr algn="l">
              <a:lnSpc>
                <a:spcPct val="125000"/>
              </a:lnSpc>
              <a:spcAft>
                <a:spcPts val="400"/>
              </a:spcAft>
              <a:defRPr sz="1050" b="0">
                <a:solidFill>
                  <a:srgbClr val="E8E8E8"/>
                </a:solidFill>
                <a:latin typeface="Calibri"/>
              </a:defRPr>
            </a:pPr>
            <a:r>
              <a:t>•  Companies Act, 2013 (as amended)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  <a:defRPr sz="1050" b="0">
                <a:solidFill>
                  <a:srgbClr val="E8E8E8"/>
                </a:solidFill>
                <a:latin typeface="Calibri"/>
              </a:defRPr>
            </a:pPr>
            <a:r>
              <a:t>•  Indian Contract Act, 1872</a:t>
            </a:r>
          </a:p>
          <a:p>
            <a:pPr algn="l">
              <a:lnSpc>
                <a:spcPct val="125000"/>
              </a:lnSpc>
              <a:spcAft>
                <a:spcPts val="400"/>
              </a:spcAft>
              <a:defRPr sz="1050" b="0">
                <a:solidFill>
                  <a:srgbClr val="E8E8E8"/>
                </a:solidFill>
                <a:latin typeface="Calibri"/>
              </a:defRPr>
            </a:pPr>
            <a:r>
              <a:t>•  SEBI Act &amp; Regulations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2286000"/>
            <a:ext cx="2560320" cy="365760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D4A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49040" y="2468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D4A537"/>
                </a:solidFill>
                <a:latin typeface="Segoe UI Emoji"/>
              </a:defRPr>
            </a:pPr>
            <a:r>
              <a:t>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28346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D4A537"/>
                </a:solidFill>
                <a:latin typeface="Calibri"/>
              </a:defRPr>
            </a:pPr>
            <a:r>
              <a:t>Case Law &amp; Judgments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3200400"/>
            <a:ext cx="2103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  <a:defRPr sz="1050" b="0">
                <a:solidFill>
                  <a:srgbClr val="E8E8E8"/>
                </a:solidFill>
                <a:latin typeface="Calibri"/>
              </a:defRPr>
            </a:pPr>
            <a:r>
              <a:t>•  Supreme Court of India landmark judgments</a:t>
            </a:r>
          </a:p>
          <a:p>
            <a:pPr algn="l">
              <a:lnSpc>
                <a:spcPct val="125000"/>
              </a:lnSpc>
              <a:spcAft>
                <a:spcPts val="400"/>
              </a:spcAft>
              <a:defRPr sz="1050" b="0">
                <a:solidFill>
                  <a:srgbClr val="E8E8E8"/>
                </a:solidFill>
                <a:latin typeface="Calibri"/>
              </a:defRPr>
            </a:pPr>
            <a:r>
              <a:t>•  High Court decisions across jurisdictions</a:t>
            </a:r>
          </a:p>
          <a:p>
            <a:pPr algn="l">
              <a:lnSpc>
                <a:spcPct val="125000"/>
              </a:lnSpc>
              <a:spcAft>
                <a:spcPts val="400"/>
              </a:spcAft>
              <a:defRPr sz="1050" b="0">
                <a:solidFill>
                  <a:srgbClr val="E8E8E8"/>
                </a:solidFill>
                <a:latin typeface="Calibri"/>
              </a:defRPr>
            </a:pPr>
            <a:r>
              <a:t>•  Tribunal orders (NCLT, NCLAT, SAT, ITAT)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  <a:defRPr sz="1050" b="0">
                <a:solidFill>
                  <a:srgbClr val="E8E8E8"/>
                </a:solidFill>
                <a:latin typeface="Calibri"/>
              </a:defRPr>
            </a:pPr>
            <a:r>
              <a:t>•  Consumer forum rulings</a:t>
            </a:r>
          </a:p>
          <a:p>
            <a:pPr algn="l">
              <a:lnSpc>
                <a:spcPct val="125000"/>
              </a:lnSpc>
              <a:spcAft>
                <a:spcPts val="400"/>
              </a:spcAft>
              <a:defRPr sz="1050" b="0">
                <a:solidFill>
                  <a:srgbClr val="E8E8E8"/>
                </a:solidFill>
                <a:latin typeface="Calibri"/>
              </a:defRPr>
            </a:pPr>
            <a:r>
              <a:t>•  Labour court decisions</a:t>
            </a:r>
          </a:p>
          <a:p>
            <a:pPr algn="l">
              <a:lnSpc>
                <a:spcPct val="125000"/>
              </a:lnSpc>
              <a:spcAft>
                <a:spcPts val="400"/>
              </a:spcAft>
              <a:defRPr sz="1050" b="0">
                <a:solidFill>
                  <a:srgbClr val="E8E8E8"/>
                </a:solidFill>
                <a:latin typeface="Calibri"/>
              </a:defRPr>
            </a:pPr>
            <a:r>
              <a:t>•  Arbitration awards (where published)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286000"/>
            <a:ext cx="2560320" cy="365760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60" y="2468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ABC9C"/>
                </a:solidFill>
                <a:latin typeface="Segoe UI Emoji"/>
              </a:defRPr>
            </a:pPr>
            <a:r>
              <a:t>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8346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ABC9C"/>
                </a:solidFill>
                <a:latin typeface="Calibri"/>
              </a:defRPr>
            </a:pPr>
            <a:r>
              <a:t>Rules &amp; Regulations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200400"/>
            <a:ext cx="2103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  <a:defRPr sz="1050" b="0">
                <a:solidFill>
                  <a:srgbClr val="E8E8E8"/>
                </a:solidFill>
                <a:latin typeface="Calibri"/>
              </a:defRPr>
            </a:pPr>
            <a:r>
              <a:t>•  RBI Master Directions &amp; Circulars</a:t>
            </a:r>
          </a:p>
          <a:p>
            <a:pPr algn="l">
              <a:lnSpc>
                <a:spcPct val="125000"/>
              </a:lnSpc>
              <a:spcAft>
                <a:spcPts val="400"/>
              </a:spcAft>
              <a:defRPr sz="1050" b="0">
                <a:solidFill>
                  <a:srgbClr val="E8E8E8"/>
                </a:solidFill>
                <a:latin typeface="Calibri"/>
              </a:defRPr>
            </a:pPr>
            <a:r>
              <a:t>•  SEBI Listing Obligations (LODR)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  <a:defRPr sz="1050" b="0">
                <a:solidFill>
                  <a:srgbClr val="E8E8E8"/>
                </a:solidFill>
                <a:latin typeface="Calibri"/>
              </a:defRPr>
            </a:pPr>
            <a:r>
              <a:t>•  MCA notifications &amp; rules</a:t>
            </a:r>
          </a:p>
          <a:p>
            <a:pPr algn="l">
              <a:lnSpc>
                <a:spcPct val="125000"/>
              </a:lnSpc>
              <a:spcAft>
                <a:spcPts val="400"/>
              </a:spcAft>
              <a:defRPr sz="1050" b="0">
                <a:solidFill>
                  <a:srgbClr val="E8E8E8"/>
                </a:solidFill>
                <a:latin typeface="Calibri"/>
              </a:defRPr>
            </a:pPr>
            <a:r>
              <a:t>•  GST/Income Tax rules &amp; circulars</a:t>
            </a:r>
          </a:p>
          <a:p>
            <a:pPr algn="l">
              <a:lnSpc>
                <a:spcPct val="125000"/>
              </a:lnSpc>
              <a:spcAft>
                <a:spcPts val="400"/>
              </a:spcAft>
              <a:defRPr sz="1050" b="0">
                <a:solidFill>
                  <a:srgbClr val="E8E8E8"/>
                </a:solidFill>
                <a:latin typeface="Calibri"/>
              </a:defRPr>
            </a:pPr>
            <a:r>
              <a:t>•  FEMA regulations</a:t>
            </a:r>
          </a:p>
          <a:p>
            <a:pPr algn="l">
              <a:lnSpc>
                <a:spcPct val="125000"/>
              </a:lnSpc>
              <a:spcAft>
                <a:spcPts val="400"/>
              </a:spcAft>
              <a:defRPr sz="1050" b="0">
                <a:solidFill>
                  <a:srgbClr val="E8E8E8"/>
                </a:solidFill>
                <a:latin typeface="Calibri"/>
              </a:defRPr>
            </a:pPr>
            <a:r>
              <a:t>•  State-specific stamp duty schedules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2286000"/>
            <a:ext cx="2560320" cy="365760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4E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0" y="235861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EC98B"/>
                </a:solidFill>
                <a:latin typeface="Segoe UI Emoji"/>
              </a:defRPr>
            </a:pPr>
            <a:r>
              <a:rPr dirty="0"/>
              <a:t>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834640"/>
            <a:ext cx="2331720" cy="35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EC98B"/>
                </a:solidFill>
                <a:latin typeface="Calibri"/>
              </a:defRPr>
            </a:pPr>
            <a:r>
              <a:rPr dirty="0"/>
              <a:t>Legal Templates &amp; Formats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3200400"/>
            <a:ext cx="2103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  <a:defRPr sz="1050" b="0">
                <a:solidFill>
                  <a:srgbClr val="E8E8E8"/>
                </a:solidFill>
                <a:latin typeface="Calibri"/>
              </a:defRPr>
            </a:pPr>
            <a:r>
              <a:t>•  Standard contract templates (NDA, SPA, SHA)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  <a:defRPr sz="1050" b="0">
                <a:solidFill>
                  <a:srgbClr val="E8E8E8"/>
                </a:solidFill>
                <a:latin typeface="Calibri"/>
              </a:defRPr>
            </a:pPr>
            <a:r>
              <a:t>•  Court filing formats (petition, bail, appeal)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  <a:defRPr sz="1050" b="0">
                <a:solidFill>
                  <a:srgbClr val="E8E8E8"/>
                </a:solidFill>
                <a:latin typeface="Calibri"/>
              </a:defRPr>
            </a:pPr>
            <a:r>
              <a:t>•  Corporate governance documents</a:t>
            </a:r>
          </a:p>
          <a:p>
            <a:pPr algn="l">
              <a:lnSpc>
                <a:spcPct val="125000"/>
              </a:lnSpc>
              <a:spcAft>
                <a:spcPts val="400"/>
              </a:spcAft>
              <a:defRPr sz="1050" b="0">
                <a:solidFill>
                  <a:srgbClr val="E8E8E8"/>
                </a:solidFill>
                <a:latin typeface="Calibri"/>
              </a:defRPr>
            </a:pPr>
            <a:r>
              <a:t>•  Compliance checklists</a:t>
            </a:r>
          </a:p>
          <a:p>
            <a:pPr algn="l">
              <a:lnSpc>
                <a:spcPct val="125000"/>
              </a:lnSpc>
              <a:spcAft>
                <a:spcPts val="400"/>
              </a:spcAft>
              <a:defRPr sz="1050" b="0">
                <a:solidFill>
                  <a:srgbClr val="E8E8E8"/>
                </a:solidFill>
                <a:latin typeface="Calibri"/>
              </a:defRPr>
            </a:pPr>
            <a:r>
              <a:t>•  Regulatory filing templates</a:t>
            </a:r>
          </a:p>
          <a:p>
            <a:pPr algn="l">
              <a:lnSpc>
                <a:spcPct val="125000"/>
              </a:lnSpc>
              <a:spcAft>
                <a:spcPts val="400"/>
              </a:spcAft>
              <a:defRPr sz="1050" b="0">
                <a:solidFill>
                  <a:srgbClr val="E8E8E8"/>
                </a:solidFill>
                <a:latin typeface="Calibri"/>
              </a:defRPr>
            </a:pPr>
            <a:r>
              <a:t>•  Legal notice formats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8888"/>
                </a:solidFill>
                <a:latin typeface="Calibri"/>
              </a:defRPr>
            </a:pPr>
            <a:r>
              <a:t>All sources are publicly available legal documents from official government gazettes, court repositories, and regulatory bodies.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4A537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Beyond Drafting — A Complete Legal Intelligence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2743200" cy="3175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210312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B82F6"/>
                </a:solidFill>
                <a:latin typeface="Calibri"/>
              </a:defRPr>
            </a:pPr>
            <a:r>
              <a:t>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20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B82F6"/>
                </a:solidFill>
                <a:latin typeface="Calibri"/>
              </a:defRPr>
            </a:pPr>
            <a:r>
              <a:t>AI Legal Drafting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CCCCCC"/>
                </a:solidFill>
                <a:latin typeface="Calibri"/>
              </a:defRPr>
            </a:pPr>
            <a:r>
              <a:t>Generate court-ready legal documents grounded in Indian statutes and case law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5176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•  Petitions, complaints, agreements, notices</a:t>
            </a:r>
          </a:p>
          <a:p>
            <a:pPr algn="l">
              <a:lnSpc>
                <a:spcPct val="120000"/>
              </a:lnSpc>
              <a:spcAft>
                <a:spcPts val="300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•  Auto-references to applicable sections</a:t>
            </a:r>
          </a:p>
          <a:p>
            <a:pPr algn="l">
              <a:lnSpc>
                <a:spcPct val="120000"/>
              </a:lnSpc>
              <a:spcAft>
                <a:spcPts val="300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•  [Not Provided] markers for unverifiable info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737360"/>
            <a:ext cx="3383280" cy="210312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D4A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8745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D4A537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1874520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D4A537"/>
                </a:solidFill>
                <a:latin typeface="Calibri"/>
              </a:defRPr>
            </a:pPr>
            <a:r>
              <a:t>Draft Audit &amp;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2402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CCCCCC"/>
                </a:solidFill>
                <a:latin typeface="Calibri"/>
              </a:defRPr>
            </a:pPr>
            <a:r>
              <a:t>Upload existing drafts for automated accuracy checking against legal sources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65176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•  Identify incorrect citations &amp; references</a:t>
            </a:r>
          </a:p>
          <a:p>
            <a:pPr algn="l">
              <a:lnSpc>
                <a:spcPct val="120000"/>
              </a:lnSpc>
              <a:spcAft>
                <a:spcPts val="300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•  Flag missing mandatory clauses</a:t>
            </a:r>
          </a:p>
          <a:p>
            <a:pPr algn="l">
              <a:lnSpc>
                <a:spcPct val="120000"/>
              </a:lnSpc>
              <a:spcAft>
                <a:spcPts val="300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•  Detect outdated provisions (e.g., CrPC→BNSS)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737360"/>
            <a:ext cx="3383280" cy="210312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18745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ABC9C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1874520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ABC9C"/>
                </a:solidFill>
                <a:latin typeface="Calibri"/>
              </a:defRPr>
            </a:pPr>
            <a:r>
              <a:t>Regulatory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2402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CCCCCC"/>
                </a:solidFill>
                <a:latin typeface="Calibri"/>
              </a:defRPr>
            </a:pPr>
            <a:r>
              <a:t>Track changes in laws, regulations, and compliance requirements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65176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•  Monitor SEBI, RBI, MCA updates</a:t>
            </a:r>
          </a:p>
          <a:p>
            <a:pPr algn="l">
              <a:lnSpc>
                <a:spcPct val="120000"/>
              </a:lnSpc>
              <a:spcAft>
                <a:spcPts val="300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•  Impact analysis on existing agreements</a:t>
            </a:r>
          </a:p>
          <a:p>
            <a:pPr algn="l">
              <a:lnSpc>
                <a:spcPct val="120000"/>
              </a:lnSpc>
              <a:spcAft>
                <a:spcPts val="300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•  Automated compliance gap detection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069080"/>
            <a:ext cx="3383280" cy="210312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4E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2062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EC98B"/>
                </a:solidFill>
                <a:latin typeface="Calibri"/>
              </a:defRPr>
            </a:pPr>
            <a:r>
              <a:t>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206240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EC98B"/>
                </a:solidFill>
                <a:latin typeface="Calibri"/>
              </a:defRPr>
            </a:pPr>
            <a:r>
              <a:t>Agreement Comparison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5720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CCCCCC"/>
                </a:solidFill>
                <a:latin typeface="Calibri"/>
              </a:defRPr>
            </a:pPr>
            <a:r>
              <a:t>Compare agreements between parties to identify unfair or unfavorable terms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98348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•  Side-by-side clause analysis</a:t>
            </a:r>
          </a:p>
          <a:p>
            <a:pPr algn="l">
              <a:lnSpc>
                <a:spcPct val="120000"/>
              </a:lnSpc>
              <a:spcAft>
                <a:spcPts val="300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•  Risk scoring for each provision</a:t>
            </a:r>
          </a:p>
          <a:p>
            <a:pPr algn="l">
              <a:lnSpc>
                <a:spcPct val="120000"/>
              </a:lnSpc>
              <a:spcAft>
                <a:spcPts val="300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•  Market-standard deviation alerts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4069080"/>
            <a:ext cx="3383280" cy="210312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E8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0" y="42062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84D4D"/>
                </a:solidFill>
                <a:latin typeface="Calibri"/>
              </a:defRPr>
            </a:pPr>
            <a:r>
              <a:t>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4206240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84D4D"/>
                </a:solidFill>
                <a:latin typeface="Calibri"/>
              </a:defRPr>
            </a:pPr>
            <a:r>
              <a:t>Data Privacy First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5720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CCCCCC"/>
                </a:solidFill>
                <a:latin typeface="Calibri"/>
              </a:defRPr>
            </a:pPr>
            <a:r>
              <a:t>Client data never leaves the secure environment — no training on your documents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98348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•  End-to-end encryption</a:t>
            </a:r>
          </a:p>
          <a:p>
            <a:pPr algn="l">
              <a:lnSpc>
                <a:spcPct val="120000"/>
              </a:lnSpc>
              <a:spcAft>
                <a:spcPts val="300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•  No data used for model training</a:t>
            </a:r>
          </a:p>
          <a:p>
            <a:pPr algn="l">
              <a:lnSpc>
                <a:spcPct val="120000"/>
              </a:lnSpc>
              <a:spcAft>
                <a:spcPts val="300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•  Compliant with IT Act &amp; DPDP Act, 2023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4069080"/>
            <a:ext cx="3383280" cy="210312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F0C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0" y="42062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0C85C"/>
                </a:solidFill>
                <a:latin typeface="Calibri"/>
              </a:defRPr>
            </a:pPr>
            <a:r>
              <a:t>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4206240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0C85C"/>
                </a:solidFill>
                <a:latin typeface="Calibri"/>
              </a:defRPr>
            </a:pPr>
            <a:r>
              <a:t>Citation Verification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45720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CCCCCC"/>
                </a:solidFill>
                <a:latin typeface="Calibri"/>
              </a:defRPr>
            </a:pPr>
            <a:r>
              <a:t>Every legal reference is cross-checked against the verified knowledge base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98348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•  Real-time citation validation</a:t>
            </a:r>
          </a:p>
          <a:p>
            <a:pPr algn="l">
              <a:lnSpc>
                <a:spcPct val="120000"/>
              </a:lnSpc>
              <a:spcAft>
                <a:spcPts val="300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•  Source linking to original documents</a:t>
            </a:r>
          </a:p>
          <a:p>
            <a:pPr algn="l">
              <a:lnSpc>
                <a:spcPct val="120000"/>
              </a:lnSpc>
              <a:spcAft>
                <a:spcPts val="300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•  Confidence scoring for each reference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4A537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Retrieval-Augmented Generation with Verification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2743200" cy="3175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2011680" cy="182880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2057400"/>
            <a:ext cx="1920240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0756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User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14600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Lawyer provides case</a:t>
            </a:r>
            <a:br/>
            <a:r>
              <a:t>details, requirements,</a:t>
            </a:r>
            <a:br/>
            <a:r>
              <a:t>or uploads a draft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2011680"/>
            <a:ext cx="2011680" cy="182880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D4A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971800" y="2057400"/>
            <a:ext cx="1920240" cy="32004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17520" y="20756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RAG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2514600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Relevant statutes, case</a:t>
            </a:r>
            <a:br/>
            <a:r>
              <a:t>law, and precedents</a:t>
            </a:r>
            <a:br/>
            <a:r>
              <a:t>retrieved from 1,840+ docs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94960" y="2011680"/>
            <a:ext cx="2011680" cy="182880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40680" y="2057400"/>
            <a:ext cx="1920240" cy="32004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0" y="20756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AI Generation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2514600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Draft generated using</a:t>
            </a:r>
            <a:br/>
            <a:r>
              <a:t>retrieved context as</a:t>
            </a:r>
            <a:br/>
            <a:r>
              <a:t>grounding material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2011680"/>
            <a:ext cx="2011680" cy="182880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E8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909560" y="2057400"/>
            <a:ext cx="1920240" cy="320040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55280" y="20756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Auto-Review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2514600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Generated draft checked</a:t>
            </a:r>
            <a:br/>
            <a:r>
              <a:t>against source documents</a:t>
            </a:r>
            <a:br/>
            <a:r>
              <a:t>for accuracy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332720" y="2011680"/>
            <a:ext cx="2011680" cy="182880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4E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378440" y="2057400"/>
            <a:ext cx="1920240" cy="320040"/>
          </a:xfrm>
          <a:prstGeom prst="rect">
            <a:avLst/>
          </a:prstGeom>
          <a:solidFill>
            <a:srgbClr val="4EC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424160" y="20756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Verified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69880" y="2514600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Corrected, source-linked</a:t>
            </a:r>
            <a:br/>
            <a:r>
              <a:t>draft delivered with</a:t>
            </a:r>
            <a:br/>
            <a:r>
              <a:t>confidence indicators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2651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D4A53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3480" y="2651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D4A53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2651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D4A53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1240" y="2651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D4A53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D4A537"/>
                </a:solidFill>
                <a:latin typeface="Calibri"/>
              </a:defRPr>
            </a:pPr>
            <a:r>
              <a:t>▸  Retrieval-Augmented Generation (RAG)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4526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Grounds AI outputs in real legal documents instead of relying solely on model training 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D4A537"/>
                </a:solidFill>
                <a:latin typeface="Calibri"/>
              </a:defRPr>
            </a:pPr>
            <a:r>
              <a:t>▸  Closed-Loop Verification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4526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Multi-pass review ensures citations, statutory sections, and legal principles are accurate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2578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D4A537"/>
                </a:solidFill>
                <a:latin typeface="Calibri"/>
              </a:defRPr>
            </a:pPr>
            <a:r>
              <a:t>▸  Uncertainty Marking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5577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When the system cannot verify information, it marks it as [Not Provided] rather than fabricating content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2578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D4A537"/>
                </a:solidFill>
                <a:latin typeface="Calibri"/>
              </a:defRPr>
            </a:pPr>
            <a:r>
              <a:t>▸  Source Attribution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5577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Every legal reference links back to the original statute, judgment, or regulation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4A537"/>
                </a:solidFill>
                <a:latin typeface="Calibri"/>
              </a:defRPr>
            </a:pPr>
            <a:r>
              <a:t>TARGET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Who Benefits from LexSetu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2743200" cy="3175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606040" cy="411480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54480" y="19659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3B82F6"/>
                </a:solidFill>
                <a:latin typeface="Calibri"/>
              </a:defRPr>
            </a:pPr>
            <a:r>
              <a:t>👨‍⚖️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B82F6"/>
                </a:solidFill>
                <a:latin typeface="Calibri"/>
              </a:defRPr>
            </a:pPr>
            <a:r>
              <a:t>Practicing Lawyers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3B82F6"/>
                </a:solidFill>
                <a:latin typeface="Calibri"/>
              </a:defRPr>
            </a:pPr>
            <a:r>
              <a:t>Pain 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6324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E8E8E8"/>
                </a:solidFill>
                <a:latin typeface="Calibri"/>
              </a:defRPr>
            </a:pPr>
            <a:r>
              <a:t>Spending 3–5 hours per draft, risk of errors in citations, outdated law references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749040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3B82F6"/>
                </a:solidFill>
                <a:latin typeface="Calibri"/>
              </a:defRPr>
            </a:pPr>
            <a:r>
              <a:t>LexSetu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93192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E8E8E8"/>
                </a:solidFill>
                <a:latin typeface="Calibri"/>
              </a:defRPr>
            </a:pPr>
            <a:r>
              <a:t>Reduce drafting time by up to 60% with verified, source-grounded 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617720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3B82F6"/>
                </a:solidFill>
                <a:latin typeface="Calibri"/>
              </a:defRPr>
            </a:pPr>
            <a:r>
              <a:t>Use Cases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80060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E8E8E8"/>
                </a:solidFill>
                <a:latin typeface="Calibri"/>
              </a:defRPr>
            </a:pPr>
            <a:r>
              <a:t>Court filings, legal notices, contracts, opinions, corporate compliance documents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1828800"/>
            <a:ext cx="2606040" cy="411480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D4A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43400" y="19659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D4A537"/>
                </a:solidFill>
                <a:latin typeface="Calibri"/>
              </a:defRPr>
            </a:pPr>
            <a:r>
              <a:t>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46888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4A537"/>
                </a:solidFill>
                <a:latin typeface="Calibri"/>
              </a:defRPr>
            </a:pPr>
            <a:r>
              <a:t>Law Students &amp; Researchers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880360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D4A537"/>
                </a:solidFill>
                <a:latin typeface="Calibri"/>
              </a:defRPr>
            </a:pPr>
            <a:r>
              <a:t>Pain 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06324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E8E8E8"/>
                </a:solidFill>
                <a:latin typeface="Calibri"/>
              </a:defRPr>
            </a:pPr>
            <a:r>
              <a:t>Difficulty accessing and cross-referencing Indian legal sources efficiently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749040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D4A537"/>
                </a:solidFill>
                <a:latin typeface="Calibri"/>
              </a:defRPr>
            </a:pPr>
            <a:r>
              <a:t>LexSetu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93192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E8E8E8"/>
                </a:solidFill>
                <a:latin typeface="Calibri"/>
              </a:defRPr>
            </a:pPr>
            <a:r>
              <a:t>Learn from verified legal templates, understand statutory frameworks faster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617720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D4A537"/>
                </a:solidFill>
                <a:latin typeface="Calibri"/>
              </a:defRPr>
            </a:pPr>
            <a:r>
              <a:t>Use Cases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80060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E8E8E8"/>
                </a:solidFill>
                <a:latin typeface="Calibri"/>
              </a:defRPr>
            </a:pPr>
            <a:r>
              <a:t>Moot court preparations, research papers, internship assignments, exam preparation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1828800"/>
            <a:ext cx="2606040" cy="411480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32320" y="19659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1ABC9C"/>
                </a:solidFill>
                <a:latin typeface="Calibri"/>
              </a:defRPr>
            </a:pPr>
            <a:r>
              <a:t>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246888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BC9C"/>
                </a:solidFill>
                <a:latin typeface="Calibri"/>
              </a:defRPr>
            </a:pPr>
            <a:r>
              <a:t>Law Firms &amp; Legal Departments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2880360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ABC9C"/>
                </a:solidFill>
                <a:latin typeface="Calibri"/>
              </a:defRPr>
            </a:pPr>
            <a:r>
              <a:t>Pain Point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06324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E8E8E8"/>
                </a:solidFill>
                <a:latin typeface="Calibri"/>
              </a:defRPr>
            </a:pPr>
            <a:r>
              <a:t>Quality control across associates, inconsistent drafting standards, compliance risks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749040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ABC9C"/>
                </a:solidFill>
                <a:latin typeface="Calibri"/>
              </a:defRPr>
            </a:pPr>
            <a:r>
              <a:t>LexSetu Value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393192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E8E8E8"/>
                </a:solidFill>
                <a:latin typeface="Calibri"/>
              </a:defRPr>
            </a:pPr>
            <a:r>
              <a:t>Standardize output quality, automated review catches errors before client delivery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617720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ABC9C"/>
                </a:solidFill>
                <a:latin typeface="Calibri"/>
              </a:defRPr>
            </a:pPr>
            <a:r>
              <a:t>Use Cases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80060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E8E8E8"/>
                </a:solidFill>
                <a:latin typeface="Calibri"/>
              </a:defRPr>
            </a:pPr>
            <a:r>
              <a:t>Bulk contract review, M&amp;A due diligence, regulatory compliance, litigation support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98280" y="1828800"/>
            <a:ext cx="2606040" cy="411480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4E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921240" y="19659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4EC98B"/>
                </a:solidFill>
                <a:latin typeface="Calibri"/>
              </a:defRPr>
            </a:pPr>
            <a:r>
              <a:t>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246888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EC98B"/>
                </a:solidFill>
                <a:latin typeface="Calibri"/>
              </a:defRPr>
            </a:pPr>
            <a:r>
              <a:t>Self-Represented Litigants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2880360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4EC98B"/>
                </a:solidFill>
                <a:latin typeface="Calibri"/>
              </a:defRPr>
            </a:pPr>
            <a:r>
              <a:t>Pain Point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306324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E8E8E8"/>
                </a:solidFill>
                <a:latin typeface="Calibri"/>
              </a:defRPr>
            </a:pPr>
            <a:r>
              <a:t>Cannot afford lawyer fees, don't understand legal procedures or document formats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3749040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4EC98B"/>
                </a:solidFill>
                <a:latin typeface="Calibri"/>
              </a:defRPr>
            </a:pPr>
            <a:r>
              <a:t>LexSetu Value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393192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E8E8E8"/>
                </a:solidFill>
                <a:latin typeface="Calibri"/>
              </a:defRPr>
            </a:pPr>
            <a:r>
              <a:t>Access court-ready document formats with guided assistance in simple language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40" y="4617720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4EC98B"/>
                </a:solidFill>
                <a:latin typeface="Calibri"/>
              </a:defRPr>
            </a:pPr>
            <a:r>
              <a:t>Use Cases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480060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E8E8E8"/>
                </a:solidFill>
                <a:latin typeface="Calibri"/>
              </a:defRPr>
            </a:pPr>
            <a:r>
              <a:t>Consumer complaints, RTI applications, tenant disputes, simple court filings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4A537"/>
                </a:solidFill>
                <a:latin typeface="Calibri"/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India's Legal Technology Landscape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2743200" cy="3175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560320" cy="201168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3B82F6"/>
                </a:solidFill>
                <a:latin typeface="Calibri"/>
              </a:defRPr>
            </a:pPr>
            <a:r>
              <a:t>1.7M+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Registered</a:t>
            </a:r>
            <a:br/>
            <a:r>
              <a:t>Advocates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Enrolled with Bar Council</a:t>
            </a:r>
            <a:br/>
            <a:r>
              <a:t>of India as of 2024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828800"/>
            <a:ext cx="2560320" cy="201168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D4A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49040" y="20116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D4A537"/>
                </a:solidFill>
                <a:latin typeface="Calibri"/>
              </a:defRPr>
            </a:pPr>
            <a:r>
              <a:t>₹2,900 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2560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Indian Legal Tech</a:t>
            </a:r>
            <a:br/>
            <a:r>
              <a:t>Market (2025)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3108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Growing at ~20% CAGR</a:t>
            </a:r>
            <a:br/>
            <a:r>
              <a:t>(Industry estimates)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828800"/>
            <a:ext cx="2560320" cy="201168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E8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20116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E84D4D"/>
                </a:solidFill>
                <a:latin typeface="Calibri"/>
              </a:defRPr>
            </a:pPr>
            <a:r>
              <a:t>5 Cr+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560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Pending Cases</a:t>
            </a:r>
            <a:br/>
            <a:r>
              <a:t>in Indian Courts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108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Supreme Court, High Courts</a:t>
            </a:r>
            <a:br/>
            <a:r>
              <a:t>&amp; District Courts combined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828800"/>
            <a:ext cx="2560320" cy="201168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4E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18320" y="20116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4EC98B"/>
                </a:solidFill>
                <a:latin typeface="Calibri"/>
              </a:defRPr>
            </a:pPr>
            <a:r>
              <a:t>1,500+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560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Law Colleges</a:t>
            </a:r>
            <a:br/>
            <a:r>
              <a:t>Across India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3108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Producing 80,000+</a:t>
            </a:r>
            <a:br/>
            <a:r>
              <a:t>law graduates annually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4A537"/>
                </a:solidFill>
                <a:latin typeface="Calibri"/>
              </a:defRPr>
            </a:pPr>
            <a:r>
              <a:t>WHY NOW?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572000"/>
            <a:ext cx="1828800" cy="254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4754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B82F6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7548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8E8E8"/>
                </a:solidFill>
                <a:latin typeface="Calibri"/>
              </a:defRPr>
            </a:pPr>
            <a:r>
              <a:t>July 2024: Three new criminal codes (BNS, BNSS, BSA) replace century-old laws — creating urgent need for updated legal tools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1663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4A537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166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8E8E8"/>
                </a:solidFill>
                <a:latin typeface="Calibri"/>
              </a:defRPr>
            </a:pPr>
            <a:r>
              <a:t>Digital India push: e-Courts project, e-Filing mandates driving technology adoption in judiciary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5778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BC9C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55778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8E8E8"/>
                </a:solidFill>
                <a:latin typeface="Calibri"/>
              </a:defRPr>
            </a:pPr>
            <a:r>
              <a:t>DPDP Act 2023: India's first comprehensive data protection law increases demand for privacy-compliant AI tools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989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EC98B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5989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8E8E8"/>
                </a:solidFill>
                <a:latin typeface="Calibri"/>
              </a:defRPr>
            </a:pPr>
            <a:r>
              <a:t>Rising AI adoption: 70%+ of Indian law firms exploring AI tools but lack India-specific, verified solutions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4922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Market size estimates based on industry reports (NASSCOM, Legal Services India, Bar Council data)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4A537"/>
                </a:solidFill>
                <a:latin typeface="Calibri"/>
              </a:defRPr>
            </a:pPr>
            <a:r>
              <a:t>COMPETITIVE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Why LexSetu vs General-Purpose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2743200" cy="3175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10698480" cy="411480"/>
          </a:xfrm>
          <a:prstGeom prst="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CCCCC"/>
                </a:solidFill>
                <a:latin typeface="Calibri"/>
              </a:defRPr>
            </a:pPr>
            <a:r>
              <a:t>Capability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874519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84D4D"/>
                </a:solidFill>
                <a:latin typeface="Calibri"/>
              </a:defRPr>
            </a:pPr>
            <a:r>
              <a:t>ChatGPT / Claude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874519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4EC98B"/>
                </a:solidFill>
                <a:latin typeface="Calibri"/>
              </a:defRPr>
            </a:pPr>
            <a:r>
              <a:t>LexSetu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331720"/>
            <a:ext cx="10698480" cy="438912"/>
          </a:xfrm>
          <a:prstGeom prst="rect">
            <a:avLst/>
          </a:prstGeom>
          <a:solidFill>
            <a:srgbClr val="10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4048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FFFFFF"/>
                </a:solidFill>
                <a:latin typeface="Calibri"/>
              </a:defRPr>
            </a:pPr>
            <a:r>
              <a:t>Indian Law Knowledge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40487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8080"/>
                </a:solidFill>
                <a:latin typeface="Calibri"/>
              </a:defRPr>
            </a:pPr>
            <a:r>
              <a:t>✗  Generic, often outdated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40487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EC98B"/>
                </a:solidFill>
                <a:latin typeface="Calibri"/>
              </a:defRPr>
            </a:pPr>
            <a:r>
              <a:t>✓  1,840+ verified Indian legal sources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807208"/>
            <a:ext cx="10698480" cy="438912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28803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FFFFFF"/>
                </a:solidFill>
                <a:latin typeface="Calibri"/>
              </a:defRPr>
            </a:pPr>
            <a:r>
              <a:t>Citation Accuracy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8803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8080"/>
                </a:solidFill>
                <a:latin typeface="Calibri"/>
              </a:defRPr>
            </a:pPr>
            <a:r>
              <a:t>✗  Frequently hallucinates cases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8803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EC98B"/>
                </a:solidFill>
                <a:latin typeface="Calibri"/>
              </a:defRPr>
            </a:pPr>
            <a:r>
              <a:t>✓  Cross-verified against real judgments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282696"/>
            <a:ext cx="10698480" cy="438912"/>
          </a:xfrm>
          <a:prstGeom prst="rect">
            <a:avLst/>
          </a:prstGeom>
          <a:solidFill>
            <a:srgbClr val="10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335584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FFFFFF"/>
                </a:solidFill>
                <a:latin typeface="Calibri"/>
              </a:defRPr>
            </a:pPr>
            <a:r>
              <a:t>New Criminal Codes (2024)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35584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8080"/>
                </a:solidFill>
                <a:latin typeface="Calibri"/>
              </a:defRPr>
            </a:pPr>
            <a:r>
              <a:t>✗  Still references CrPC/IPC/IEA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35584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EC98B"/>
                </a:solidFill>
                <a:latin typeface="Calibri"/>
              </a:defRPr>
            </a:pPr>
            <a:r>
              <a:t>✓  Updated to BNS/BNSS/BSA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758184"/>
            <a:ext cx="10698480" cy="438912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383133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FFFFFF"/>
                </a:solidFill>
                <a:latin typeface="Calibri"/>
              </a:defRPr>
            </a:pPr>
            <a:r>
              <a:t>Data Privacy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83133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8080"/>
                </a:solidFill>
                <a:latin typeface="Calibri"/>
              </a:defRPr>
            </a:pPr>
            <a:r>
              <a:t>✗  Data may be used for training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83133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EC98B"/>
                </a:solidFill>
                <a:latin typeface="Calibri"/>
              </a:defRPr>
            </a:pPr>
            <a:r>
              <a:t>✓  No training on user documents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233672"/>
            <a:ext cx="10698480" cy="438912"/>
          </a:xfrm>
          <a:prstGeom prst="rect">
            <a:avLst/>
          </a:prstGeom>
          <a:solidFill>
            <a:srgbClr val="10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430682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FFFFFF"/>
                </a:solidFill>
                <a:latin typeface="Calibri"/>
              </a:defRPr>
            </a:pPr>
            <a:r>
              <a:t>Legal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430682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8080"/>
                </a:solidFill>
                <a:latin typeface="Calibri"/>
              </a:defRPr>
            </a:pPr>
            <a:r>
              <a:t>✗  No automated 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30682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EC98B"/>
                </a:solidFill>
                <a:latin typeface="Calibri"/>
              </a:defRPr>
            </a:pPr>
            <a:r>
              <a:t>✓  Multi-pass verification loop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4709160"/>
            <a:ext cx="10698480" cy="438912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478231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FFFFFF"/>
                </a:solidFill>
                <a:latin typeface="Calibri"/>
              </a:defRPr>
            </a:pPr>
            <a:r>
              <a:t>Error Handling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478231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8080"/>
                </a:solidFill>
                <a:latin typeface="Calibri"/>
              </a:defRPr>
            </a:pPr>
            <a:r>
              <a:t>✗  Confidently states incorrect info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78231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EC98B"/>
                </a:solidFill>
                <a:latin typeface="Calibri"/>
              </a:defRPr>
            </a:pPr>
            <a:r>
              <a:t>✓  Marks unverifiable info as [Not Provided]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5184648"/>
            <a:ext cx="10698480" cy="438912"/>
          </a:xfrm>
          <a:prstGeom prst="rect">
            <a:avLst/>
          </a:prstGeom>
          <a:solidFill>
            <a:srgbClr val="10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2960" y="52578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FFFFFF"/>
                </a:solidFill>
                <a:latin typeface="Calibri"/>
              </a:defRPr>
            </a:pPr>
            <a:r>
              <a:t>Source Attribution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52578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8080"/>
                </a:solidFill>
                <a:latin typeface="Calibri"/>
              </a:defRPr>
            </a:pPr>
            <a:r>
              <a:t>✗  Rarely provides sources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52578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EC98B"/>
                </a:solidFill>
                <a:latin typeface="Calibri"/>
              </a:defRPr>
            </a:pPr>
            <a:r>
              <a:t>✓  Links every reference to original source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5660136"/>
            <a:ext cx="10698480" cy="438912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2960" y="573328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FFFFFF"/>
                </a:solidFill>
                <a:latin typeface="Calibri"/>
              </a:defRPr>
            </a:pPr>
            <a:r>
              <a:t>India-Specific Compliance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3440" y="573328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8080"/>
                </a:solidFill>
                <a:latin typeface="Calibri"/>
              </a:defRPr>
            </a:pPr>
            <a:r>
              <a:t>✗  No regulatory awareness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573328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EC98B"/>
                </a:solidFill>
                <a:latin typeface="Calibri"/>
              </a:defRPr>
            </a:pPr>
            <a:r>
              <a:t>✓  SEBI, RBI, MCA compliance checks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4A537"/>
                </a:solidFill>
                <a:latin typeface="Calibri"/>
              </a:defRPr>
            </a:pPr>
            <a:r>
              <a:t>USE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How LexSetu Works in 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2743200" cy="3175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029200" cy="438912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B82F6"/>
                </a:solidFill>
                <a:latin typeface="Calibri"/>
              </a:defRPr>
            </a:pPr>
            <a:r>
              <a:t>SCENARIO: Bail Application Under BNSS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200" b="1">
                <a:solidFill>
                  <a:srgbClr val="D4A537"/>
                </a:solidFill>
                <a:latin typeface="Calibri"/>
              </a:defRPr>
            </a:pPr>
            <a:r>
              <a:t>Step 1: User Input</a:t>
            </a:r>
          </a:p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Lawyer enters: 'Draft a bail application for Section 115(2) BNS offence, accused in custody for 60 days, FIR No. 123/2025, PS Saket, New Delhi'</a:t>
            </a:r>
          </a:p>
          <a:p>
            <a:pPr algn="l">
              <a:lnSpc>
                <a:spcPct val="130000"/>
              </a:lnSpc>
              <a:spcAft>
                <a:spcPts val="200"/>
              </a:spcAft>
              <a:defRPr sz="600" b="0">
                <a:solidFill>
                  <a:srgbClr val="E8E8E8"/>
                </a:solidFill>
                <a:latin typeface="Calibri"/>
              </a:defRPr>
            </a:pPr>
            <a:endParaRPr/>
          </a:p>
          <a:p>
            <a:pPr algn="l">
              <a:lnSpc>
                <a:spcPct val="130000"/>
              </a:lnSpc>
              <a:spcAft>
                <a:spcPts val="200"/>
              </a:spcAft>
              <a:defRPr sz="1200" b="1">
                <a:solidFill>
                  <a:srgbClr val="D4A537"/>
                </a:solidFill>
                <a:latin typeface="Calibri"/>
              </a:defRPr>
            </a:pPr>
            <a:r>
              <a:t>Step 2: RAG Retrieval</a:t>
            </a:r>
          </a:p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System retrieves: BNSS Sections 480, 482, 483 (bail provisions), relevant SC judgments on bail (Arnesh Kumar v. State of Bihar, Satender Kumar Antil v. CBI), Section 115(2) BNS definition and punishment</a:t>
            </a:r>
          </a:p>
          <a:p>
            <a:pPr algn="l">
              <a:lnSpc>
                <a:spcPct val="130000"/>
              </a:lnSpc>
              <a:spcAft>
                <a:spcPts val="200"/>
              </a:spcAft>
              <a:defRPr sz="600" b="0">
                <a:solidFill>
                  <a:srgbClr val="E8E8E8"/>
                </a:solidFill>
                <a:latin typeface="Calibri"/>
              </a:defRPr>
            </a:pPr>
            <a:endParaRPr/>
          </a:p>
          <a:p>
            <a:pPr algn="l">
              <a:lnSpc>
                <a:spcPct val="130000"/>
              </a:lnSpc>
              <a:spcAft>
                <a:spcPts val="200"/>
              </a:spcAft>
              <a:defRPr sz="1200" b="1">
                <a:solidFill>
                  <a:srgbClr val="D4A537"/>
                </a:solidFill>
                <a:latin typeface="Calibri"/>
              </a:defRPr>
            </a:pPr>
            <a:r>
              <a:t>Step 3: Draft Generation</a:t>
            </a:r>
          </a:p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AI generates bail application in correct court format with proper statutory references, case law citations, and grounds for bail</a:t>
            </a:r>
          </a:p>
          <a:p>
            <a:pPr algn="l">
              <a:lnSpc>
                <a:spcPct val="130000"/>
              </a:lnSpc>
              <a:spcAft>
                <a:spcPts val="200"/>
              </a:spcAft>
              <a:defRPr sz="600" b="0">
                <a:solidFill>
                  <a:srgbClr val="E8E8E8"/>
                </a:solidFill>
                <a:latin typeface="Calibri"/>
              </a:defRPr>
            </a:pPr>
            <a:endParaRPr/>
          </a:p>
          <a:p>
            <a:pPr algn="l">
              <a:lnSpc>
                <a:spcPct val="130000"/>
              </a:lnSpc>
              <a:spcAft>
                <a:spcPts val="200"/>
              </a:spcAft>
              <a:defRPr sz="1200" b="1">
                <a:solidFill>
                  <a:srgbClr val="D4A537"/>
                </a:solidFill>
                <a:latin typeface="Calibri"/>
              </a:defRPr>
            </a:pPr>
            <a:r>
              <a:t>Step 4: Auto-Review</a:t>
            </a:r>
          </a:p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System verifies: All BNSS section numbers are correct, cited judgments exist and are relevant, mandatory bail grounds under BNSS are included, FIR details match format requirements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029200" cy="438912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E8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84D4D"/>
                </a:solidFill>
                <a:latin typeface="Calibri"/>
              </a:defRPr>
            </a:pPr>
            <a:r>
              <a:t>WHAT LEXSETU CATCHES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200" b="1">
                <a:solidFill>
                  <a:srgbClr val="E84D4D"/>
                </a:solidFill>
                <a:latin typeface="Calibri"/>
              </a:defRPr>
            </a:pPr>
            <a:r>
              <a:t>❌  ChatGPT might cite:</a:t>
            </a:r>
          </a:p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E08080"/>
                </a:solidFill>
                <a:latin typeface="Calibri"/>
              </a:defRPr>
            </a:pPr>
            <a:r>
              <a:t>'Section 437 CrPC' — WRONG (repealed on 1 July 2024)</a:t>
            </a:r>
          </a:p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E08080"/>
                </a:solidFill>
                <a:latin typeface="Calibri"/>
              </a:defRPr>
            </a:pPr>
            <a:r>
              <a:t>'Section 439 CrPC' — WRONG (now BNSS Section 483)</a:t>
            </a:r>
          </a:p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E08080"/>
                </a:solidFill>
                <a:latin typeface="Calibri"/>
              </a:defRPr>
            </a:pPr>
            <a:r>
              <a:t>A non-existent case: 'Rajesh Kumar v. State (2022) 5 SCC 412'</a:t>
            </a:r>
          </a:p>
          <a:p>
            <a:pPr algn="l">
              <a:lnSpc>
                <a:spcPct val="130000"/>
              </a:lnSpc>
              <a:spcAft>
                <a:spcPts val="200"/>
              </a:spcAft>
              <a:defRPr sz="600" b="0">
                <a:solidFill>
                  <a:srgbClr val="E8E8E8"/>
                </a:solidFill>
                <a:latin typeface="Calibri"/>
              </a:defRPr>
            </a:pPr>
            <a:endParaRPr/>
          </a:p>
          <a:p>
            <a:pPr algn="l">
              <a:lnSpc>
                <a:spcPct val="130000"/>
              </a:lnSpc>
              <a:spcAft>
                <a:spcPts val="200"/>
              </a:spcAft>
              <a:defRPr sz="1200" b="1">
                <a:solidFill>
                  <a:srgbClr val="4EC98B"/>
                </a:solidFill>
                <a:latin typeface="Calibri"/>
              </a:defRPr>
            </a:pPr>
            <a:r>
              <a:t>✓  LexSetu correctly uses:</a:t>
            </a:r>
          </a:p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4EC98B"/>
                </a:solidFill>
                <a:latin typeface="Calibri"/>
              </a:defRPr>
            </a:pPr>
            <a:r>
              <a:t>BNSS Section 480 (bail for non-bailable offences)</a:t>
            </a:r>
          </a:p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4EC98B"/>
                </a:solidFill>
                <a:latin typeface="Calibri"/>
              </a:defRPr>
            </a:pPr>
            <a:r>
              <a:t>BNSS Section 483 (bail by High Court/Sessions Court)</a:t>
            </a:r>
          </a:p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4EC98B"/>
                </a:solidFill>
                <a:latin typeface="Calibri"/>
              </a:defRPr>
            </a:pPr>
            <a:r>
              <a:t>Verified: Arnesh Kumar v. State of Bihar (2014) 8 SCC 273</a:t>
            </a:r>
          </a:p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4EC98B"/>
                </a:solidFill>
                <a:latin typeface="Calibri"/>
              </a:defRPr>
            </a:pPr>
            <a:r>
              <a:t>Verified: Satender Kumar Antil v. CBI (2022) 10 SCC 51</a:t>
            </a:r>
          </a:p>
          <a:p>
            <a:pPr algn="l">
              <a:lnSpc>
                <a:spcPct val="130000"/>
              </a:lnSpc>
              <a:spcAft>
                <a:spcPts val="200"/>
              </a:spcAft>
              <a:defRPr sz="600" b="0">
                <a:solidFill>
                  <a:srgbClr val="E8E8E8"/>
                </a:solidFill>
                <a:latin typeface="Calibri"/>
              </a:defRPr>
            </a:pPr>
            <a:endParaRPr/>
          </a:p>
          <a:p>
            <a:pPr algn="l">
              <a:lnSpc>
                <a:spcPct val="130000"/>
              </a:lnSpc>
              <a:spcAft>
                <a:spcPts val="200"/>
              </a:spcAft>
              <a:defRPr sz="1200" b="1">
                <a:solidFill>
                  <a:srgbClr val="F0C85C"/>
                </a:solidFill>
                <a:latin typeface="Calibri"/>
              </a:defRPr>
            </a:pPr>
            <a:r>
              <a:t>🔒  Marks as [Not Provided]:</a:t>
            </a:r>
          </a:p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Details not supplied by the user (e.g., specific medical grounds)</a:t>
            </a:r>
          </a:p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Information that cannot be verified from the knowledge base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4A537"/>
                </a:solidFill>
                <a:latin typeface="Calibri"/>
              </a:defRPr>
            </a:pPr>
            <a:r>
              <a:t>PRODUCT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Building Towards Comprehensive Legal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2743200" cy="3175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560320" cy="384048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2468880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Phase 1: 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Q3-Q4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5176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•  Core AI drafting engine with RAG</a:t>
            </a:r>
          </a:p>
          <a:p>
            <a:pPr algn="l">
              <a:lnSpc>
                <a:spcPct val="125000"/>
              </a:lnSpc>
              <a:spcAft>
                <a:spcPts val="400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•  1,840+ legal source documents indexed</a:t>
            </a:r>
          </a:p>
          <a:p>
            <a:pPr algn="l">
              <a:lnSpc>
                <a:spcPct val="125000"/>
              </a:lnSpc>
              <a:spcAft>
                <a:spcPts val="400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•  Closed-loop verification system</a:t>
            </a:r>
          </a:p>
          <a:p>
            <a:pPr algn="l">
              <a:lnSpc>
                <a:spcPct val="125000"/>
              </a:lnSpc>
              <a:spcAft>
                <a:spcPts val="400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•  Bail applications, legal notices, contracts</a:t>
            </a:r>
          </a:p>
          <a:p>
            <a:pPr algn="l">
              <a:lnSpc>
                <a:spcPct val="125000"/>
              </a:lnSpc>
              <a:spcAft>
                <a:spcPts val="400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•  Web-based platform launch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1828800"/>
            <a:ext cx="2560320" cy="384048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D4A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66160" y="1874519"/>
            <a:ext cx="2468880" cy="64008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0" y="19019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Phase 2: Expansion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1945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Q1-Q2 2027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65176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•  Expand to 5,000+ legal source documents</a:t>
            </a:r>
          </a:p>
          <a:p>
            <a:pPr algn="l">
              <a:lnSpc>
                <a:spcPct val="125000"/>
              </a:lnSpc>
              <a:spcAft>
                <a:spcPts val="400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•  Multi-language support (Hindi, regional languages)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•  Regulatory compliance module (SEBI, RBI, MCA)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•  Law firm team collaboration features</a:t>
            </a:r>
          </a:p>
          <a:p>
            <a:pPr algn="l">
              <a:lnSpc>
                <a:spcPct val="125000"/>
              </a:lnSpc>
              <a:spcAft>
                <a:spcPts val="400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•  API for legal tech integrations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828800"/>
            <a:ext cx="2560320" cy="384048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55080" y="1874519"/>
            <a:ext cx="2468880" cy="64008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19019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Phase 3: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1945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Q3-Q4 2027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65176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•  Real-time regulatory update tracking</a:t>
            </a:r>
          </a:p>
          <a:p>
            <a:pPr algn="l">
              <a:lnSpc>
                <a:spcPct val="125000"/>
              </a:lnSpc>
              <a:spcAft>
                <a:spcPts val="400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•  Predictive case outcome analysis</a:t>
            </a:r>
          </a:p>
          <a:p>
            <a:pPr algn="l">
              <a:lnSpc>
                <a:spcPct val="125000"/>
              </a:lnSpc>
              <a:spcAft>
                <a:spcPts val="400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•  Court-specific drafting formats</a:t>
            </a:r>
          </a:p>
          <a:p>
            <a:pPr algn="l">
              <a:lnSpc>
                <a:spcPct val="125000"/>
              </a:lnSpc>
              <a:spcAft>
                <a:spcPts val="400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•  Advanced agreement comparison engine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•  Mobile application launch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280" y="1828800"/>
            <a:ext cx="2560320" cy="384048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4E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44000" y="1874519"/>
            <a:ext cx="2468880" cy="640080"/>
          </a:xfrm>
          <a:prstGeom prst="rect">
            <a:avLst/>
          </a:prstGeom>
          <a:solidFill>
            <a:srgbClr val="4EC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35440" y="19019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Phase 4: Scale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1945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2028+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265176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•  AI-assisted courtroom preparation</a:t>
            </a:r>
          </a:p>
          <a:p>
            <a:pPr algn="l">
              <a:lnSpc>
                <a:spcPct val="125000"/>
              </a:lnSpc>
              <a:spcAft>
                <a:spcPts val="400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•  Integration with e-Courts platform</a:t>
            </a:r>
          </a:p>
          <a:p>
            <a:pPr algn="l">
              <a:lnSpc>
                <a:spcPct val="125000"/>
              </a:lnSpc>
              <a:spcAft>
                <a:spcPts val="400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•  Legal research assistant with reasoning</a:t>
            </a:r>
          </a:p>
          <a:p>
            <a:pPr algn="l">
              <a:lnSpc>
                <a:spcPct val="125000"/>
              </a:lnSpc>
              <a:spcAft>
                <a:spcPts val="400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•  Expansion to other South Asian jurisdictions</a:t>
            </a:r>
          </a:p>
          <a:p>
            <a:pPr algn="l">
              <a:lnSpc>
                <a:spcPct val="125000"/>
              </a:lnSpc>
              <a:spcAft>
                <a:spcPts val="400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•  Enterprise tier for large law firms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852160"/>
            <a:ext cx="10972800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6035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4EC98B"/>
                </a:solidFill>
                <a:latin typeface="Calibri"/>
              </a:defRPr>
            </a:pPr>
            <a:r>
              <a:t>▸  CURRENT STATUS: Phase 1 — MVP in Development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4A537"/>
                </a:solidFill>
                <a:latin typeface="Calibri"/>
              </a:defRPr>
            </a:pPr>
            <a:r>
              <a:t>OUR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"Make AI a reliable second layer of verification for lawyers,</a:t>
            </a:r>
            <a:br/>
            <a:r>
              <a:t>not a black-box replacement for legal judgment."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926080"/>
            <a:ext cx="4572000" cy="381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828800" y="3383280"/>
            <a:ext cx="914400" cy="9144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0" y="352044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434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B82F6"/>
                </a:solidFill>
                <a:latin typeface="Calibri"/>
              </a:defRPr>
            </a:pPr>
            <a:r>
              <a:t>Grounded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548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8E8E8"/>
                </a:solidFill>
                <a:latin typeface="Calibri"/>
              </a:defRPr>
            </a:pPr>
            <a:r>
              <a:t>Every output backed by</a:t>
            </a:r>
            <a:br/>
            <a:r>
              <a:t>real Indian legal sources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0" y="3383280"/>
            <a:ext cx="914400" cy="914400"/>
          </a:xfrm>
          <a:prstGeom prst="ellipse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0" y="352044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4434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D4A537"/>
                </a:solidFill>
                <a:latin typeface="Calibri"/>
              </a:defRPr>
            </a:pPr>
            <a:r>
              <a:t>Transparent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47548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8E8E8"/>
                </a:solidFill>
                <a:latin typeface="Calibri"/>
              </a:defRPr>
            </a:pPr>
            <a:r>
              <a:t>Honest about uncertainty —</a:t>
            </a:r>
            <a:br/>
            <a:r>
              <a:t>[Not Provided] over fabrication</a:t>
            </a:r>
          </a:p>
        </p:txBody>
      </p:sp>
      <p:sp>
        <p:nvSpPr>
          <p:cNvPr id="15" name="Oval 14"/>
          <p:cNvSpPr/>
          <p:nvPr/>
        </p:nvSpPr>
        <p:spPr>
          <a:xfrm>
            <a:off x="9509760" y="3383280"/>
            <a:ext cx="914400" cy="914400"/>
          </a:xfrm>
          <a:prstGeom prst="ellipse">
            <a:avLst/>
          </a:prstGeom>
          <a:solidFill>
            <a:srgbClr val="4EC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0" y="352044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4434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EC98B"/>
                </a:solidFill>
                <a:latin typeface="Calibri"/>
              </a:defRPr>
            </a:pPr>
            <a:r>
              <a:t>Verifiable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47548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8E8E8"/>
                </a:solidFill>
                <a:latin typeface="Calibri"/>
              </a:defRPr>
            </a:pPr>
            <a:r>
              <a:t>Capable of being checked</a:t>
            </a:r>
            <a:br/>
            <a:r>
              <a:t>and corrected before use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5669280"/>
            <a:ext cx="12191695" cy="118872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5806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D4A537"/>
                </a:solidFill>
                <a:latin typeface="Georgia"/>
              </a:defRPr>
            </a:pPr>
            <a:r>
              <a:t>Thank You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LexSetu  •  AI-Powered Legal Intelligence for India  •  lexsetu.in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1194</TotalTime>
  <Words>2006</Words>
  <Application>Microsoft Macintosh PowerPoint</Application>
  <PresentationFormat>Widescreen</PresentationFormat>
  <Paragraphs>311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Shiva Sharma</cp:lastModifiedBy>
  <cp:revision>2</cp:revision>
  <dcterms:created xsi:type="dcterms:W3CDTF">2013-01-27T09:14:16Z</dcterms:created>
  <dcterms:modified xsi:type="dcterms:W3CDTF">2026-08-30T06:52:00Z</dcterms:modified>
  <cp:category/>
</cp:coreProperties>
</file>